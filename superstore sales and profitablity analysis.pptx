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SUPERSTORE SALES &amp;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BEDCEB"/>
                </a:solidFill>
                <a:latin typeface="Aptos"/>
              </a:defRPr>
            </a:pPr>
            <a:r>
              <a:t>A SQL data analysis portfolio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60320"/>
            <a:ext cx="1097280" cy="73152"/>
          </a:xfrm>
          <a:prstGeom prst="rect">
            <a:avLst/>
          </a:prstGeom>
          <a:solidFill>
            <a:srgbClr val="18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9875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Business question: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Where is the business making profit, and where are losses reducing overall performance?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DD7E1"/>
                </a:solidFill>
                <a:latin typeface="Aptos"/>
              </a:defRPr>
            </a:pPr>
            <a:r>
              <a:t>Tools: MySQL Workbench • SQL aggregation • Profit margin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CDD7E1"/>
                </a:solidFill>
                <a:latin typeface="Aptos"/>
              </a:defRPr>
            </a:pPr>
            <a:r>
              <a:t>Prepared as a learning portfolio • Findings apply to the available 137-record extract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82A46"/>
                </a:solidFill>
                <a:latin typeface="Aptos"/>
              </a:defRPr>
            </a:pPr>
            <a:r>
              <a:t>1. Project objective and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Use SQL to summarize performance, compare categories, and identify loss-making areas.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6060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73351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RECORDS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039112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82A4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542032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Small dataset extract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6060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73351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039112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82A46"/>
                </a:solidFill>
                <a:latin typeface="Aptos"/>
              </a:defRPr>
            </a:pPr>
            <a:r>
              <a:t>26,374.06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542032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Sales across all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26060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1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39112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BE4141"/>
                </a:solidFill>
                <a:latin typeface="Aptos"/>
              </a:defRPr>
            </a:pPr>
            <a:r>
              <a:t>48.49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542032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Very small net 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508760"/>
            <a:ext cx="25146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673351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039112"/>
            <a:ext cx="2185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BE4141"/>
                </a:solidFill>
                <a:latin typeface="Aptos"/>
              </a:defRPr>
            </a:pPr>
            <a:r>
              <a:t>0.18%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542032"/>
            <a:ext cx="21854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Profit divided by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6"/>
                </a:solidFill>
                <a:latin typeface="Aptos"/>
              </a:defRPr>
            </a:pPr>
            <a:r>
              <a:t>SQL techniques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• WHERE to filter categories and subcategories</a:t>
            </a:r>
          </a:p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• GROUP BY and SUM() to calculate sales and profit</a:t>
            </a:r>
          </a:p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• HAVING to identify products with negative total profit</a:t>
            </a:r>
          </a:p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• AVG(), COUNT(), and profit-margin calculations to compare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Superstore SQL Portfolio • 137-record dataset 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82A46"/>
                </a:solidFill>
                <a:latin typeface="Aptos"/>
              </a:defRPr>
            </a:pPr>
            <a:r>
              <a:t>2. Category-level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Furniture is the main source of losses in this extract.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2834640" cy="411480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508760"/>
            <a:ext cx="2286000" cy="411480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536192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79" y="1508760"/>
            <a:ext cx="2286000" cy="411480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1" y="1536192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2286000" cy="411480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536192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011680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8303A"/>
                </a:solidFill>
                <a:latin typeface="Aptos"/>
              </a:defRPr>
            </a:pPr>
            <a:r>
              <a:t>Furniture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975104"/>
            <a:ext cx="283464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011680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8303A"/>
                </a:solidFill>
                <a:latin typeface="Aptos"/>
              </a:defRPr>
            </a:pPr>
            <a:r>
              <a:t>Furniture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11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13,634.32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1975104"/>
            <a:ext cx="228600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2011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13,634.32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2011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E4141"/>
                </a:solidFill>
                <a:latin typeface="Aptos"/>
              </a:defRPr>
            </a:pPr>
            <a:r>
              <a:t>-1,833.21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79" y="1975104"/>
            <a:ext cx="228600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1" y="2011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E4141"/>
                </a:solidFill>
                <a:latin typeface="Aptos"/>
              </a:defRPr>
            </a:pPr>
            <a:r>
              <a:t>-1,833.21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011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-13.45%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975104"/>
            <a:ext cx="228600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011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-13.45%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67004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8303A"/>
                </a:solidFill>
                <a:latin typeface="Aptos"/>
              </a:defRPr>
            </a:pPr>
            <a:r>
              <a:t>Office Supplies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2633472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2670048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8303A"/>
                </a:solidFill>
                <a:latin typeface="Aptos"/>
              </a:defRPr>
            </a:pPr>
            <a:r>
              <a:t>Office Supplies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267004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6,648.04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2633472"/>
            <a:ext cx="2286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267004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6,648.04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1" y="267004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1,038.28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79" y="2633472"/>
            <a:ext cx="2286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71031" y="267004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1,038.28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267004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15.60%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2633472"/>
            <a:ext cx="2286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670048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15.60%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3328416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8303A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3291840"/>
            <a:ext cx="283464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3328416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8303A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5032" y="3328416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6,091.70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11880" y="3291840"/>
            <a:ext cx="228600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85032" y="3328416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6,091.70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1031" y="3328416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843.43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79" y="3291840"/>
            <a:ext cx="228600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71031" y="3328416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843.43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031" y="3328416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13.85%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3291840"/>
            <a:ext cx="2286000" cy="530352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031" y="3328416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13.85%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343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6"/>
                </a:solidFill>
                <a:latin typeface="Aptos"/>
              </a:defRPr>
            </a:pPr>
            <a:r>
              <a:t>Insight: Furniture’s loss outweighs the combined profits from Office Supplies and Technology, leaving overall profit near zero.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Superstore SQL Portfolio • 137-record dataset extract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82A46"/>
                </a:solidFill>
                <a:latin typeface="Aptos"/>
              </a:defRPr>
            </a:pPr>
            <a:r>
              <a:t>3. Furniture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Bookcases are the priority for further investigation.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81912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BOOKCASES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3099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BE4141"/>
                </a:solidFill>
                <a:latin typeface="Aptos"/>
              </a:defRPr>
            </a:pPr>
            <a:r>
              <a:t>-1,670.12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50591"/>
            <a:ext cx="3099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Margin: -43.07%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81912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TABLES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3099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BE4141"/>
                </a:solidFill>
                <a:latin typeface="Aptos"/>
              </a:defRPr>
            </a:pPr>
            <a:r>
              <a:t>-299.76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50591"/>
            <a:ext cx="3099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Margin: -5.86%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290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81912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CHAIRS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47672"/>
            <a:ext cx="3099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288755"/>
                </a:solidFill>
                <a:latin typeface="Aptos"/>
              </a:defRPr>
            </a:pPr>
            <a:r>
              <a:t>+113.47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50591"/>
            <a:ext cx="3099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Margin: +3.29%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6"/>
                </a:solidFill>
                <a:latin typeface="Aptos"/>
              </a:defRPr>
            </a:pPr>
            <a:r>
              <a:t>Product-level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Riverside Palais: sales 3,083.43; profit -1,665.05; 50% discount.</a:t>
            </a:r>
          </a:p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This product accounts for almost all Bookcases losses in the extract.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88C82"/>
                </a:solidFill>
                <a:latin typeface="Aptos"/>
              </a:defRPr>
            </a:pPr>
            <a:r>
              <a:t>Action: review pricing, cost structure, and discount decisions before changing policy.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Superstore SQL Portfolio • 137-record dataset 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82A46"/>
                </a:solidFill>
                <a:latin typeface="Aptos"/>
              </a:defRPr>
            </a:pPr>
            <a:r>
              <a:t>4. Office Supplies and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Both categories are profitable overall, but product-level losses still matter.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749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673351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OFFICE SUPPLIES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039112"/>
            <a:ext cx="47457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82A46"/>
                </a:solidFill>
                <a:latin typeface="Aptos"/>
              </a:defRPr>
            </a:pPr>
            <a:r>
              <a:t>1,038.28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42032"/>
            <a:ext cx="4745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Margin: 15.60%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0749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73351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9737D"/>
                </a:solidFill>
                <a:latin typeface="Aptos"/>
              </a:defRPr>
            </a:pPr>
            <a:r>
              <a:t>TECHNOLOGY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39112"/>
            <a:ext cx="47457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82A46"/>
                </a:solidFill>
                <a:latin typeface="Aptos"/>
              </a:defRPr>
            </a:pPr>
            <a:r>
              <a:t>843.43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542032"/>
            <a:ext cx="4745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8303A"/>
                </a:solidFill>
                <a:latin typeface="Aptos"/>
              </a:defRPr>
            </a:pPr>
            <a:r>
              <a:t>Margin: 13.85%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6"/>
                </a:solidFill>
                <a:latin typeface="Aptos"/>
              </a:defRPr>
            </a:pPr>
            <a:r>
              <a:t>Office Supplies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• Holmes HEPA filter: profit -123.86 at 80% discount</a:t>
            </a:r>
          </a:p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• 70% discount group: total profit -128.39</a:t>
            </a:r>
          </a:p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• 80% discount group: total profit -132.65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82A46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11480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• Phones profit: 742.76; margin: 14.57%</a:t>
            </a:r>
          </a:p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• Accessories profit: 100.66; margin: 10.12%</a:t>
            </a:r>
          </a:p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• Phones contribute most Technology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Superstore SQL Portfolio • 137-record dataset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82A46"/>
                </a:solidFill>
                <a:latin typeface="Aptos"/>
              </a:defRPr>
            </a:pPr>
            <a:r>
              <a:t>5. Discount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In this extract, higher discount groups were associated with losses.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508760"/>
            <a:ext cx="1920240" cy="438912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3619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Discount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508760"/>
            <a:ext cx="1828800" cy="438912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536192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79" y="1508760"/>
            <a:ext cx="3017520" cy="438912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1" y="1536192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Avg. profit/record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508760"/>
            <a:ext cx="2194560" cy="438912"/>
          </a:xfrm>
          <a:prstGeom prst="rect">
            <a:avLst/>
          </a:prstGeom>
          <a:solidFill>
            <a:srgbClr val="30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36192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002536"/>
            <a:ext cx="192024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03911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8303A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002536"/>
            <a:ext cx="182880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039112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2002536"/>
            <a:ext cx="301752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1" y="2039112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17.10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002536"/>
            <a:ext cx="219456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039112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718.24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569464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60604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8303A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569464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26060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2569464"/>
            <a:ext cx="3017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1" y="2606040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18.16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569464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2606040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581.08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136391"/>
            <a:ext cx="192024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172968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8303A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136391"/>
            <a:ext cx="182880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17296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79" y="3136391"/>
            <a:ext cx="301752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1" y="3172968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E4141"/>
                </a:solidFill>
                <a:latin typeface="Aptos"/>
              </a:defRPr>
            </a:pPr>
            <a:r>
              <a:t>-32.10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136391"/>
            <a:ext cx="2194560" cy="457200"/>
          </a:xfrm>
          <a:prstGeom prst="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5552" y="3172968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E4141"/>
                </a:solidFill>
                <a:latin typeface="Aptos"/>
              </a:defRPr>
            </a:pPr>
            <a:r>
              <a:t>-128.39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3703320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3739896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8303A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703320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9232" y="373989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830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79" y="3703320"/>
            <a:ext cx="3017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28031" y="3739896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E4141"/>
                </a:solidFill>
                <a:latin typeface="Aptos"/>
              </a:defRPr>
            </a:pPr>
            <a:r>
              <a:t>-33.16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703320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45552" y="37398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E4141"/>
                </a:solidFill>
                <a:latin typeface="Aptos"/>
              </a:defRPr>
            </a:pPr>
            <a:r>
              <a:t>-132.65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2519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8303A"/>
                </a:solidFill>
                <a:latin typeface="Aptos"/>
              </a:defRPr>
            </a:pPr>
            <a:r>
              <a:t>Interpretation: the 70% and 80% groups lost money on average. Each group has only four records, and products may differ, so this is an association—not proof that discounts alone caused the losses.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Superstore SQL Portfolio • 137-record dataset extract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82A46"/>
                </a:solidFill>
                <a:latin typeface="Aptos"/>
              </a:defRPr>
            </a:pPr>
            <a:r>
              <a:t>6. Recommendations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Turn the SQL results into practical next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82A46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983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1. Investigate Bookcases and the Riverside product first.</a:t>
            </a:r>
          </a:p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2. Review pricing, costs, and discount practices for loss-making products.</a:t>
            </a:r>
          </a:p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3. Monitor low-margin Office Supplies products.</a:t>
            </a:r>
          </a:p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4. Learn from the stronger Phones subcategory.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82A4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• Only 137 records were analyzed.</a:t>
            </a:r>
          </a:p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• Results describe this extract, not necessarily the full Superstore dataset.</a:t>
            </a:r>
          </a:p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• Small groups can be affected by individual products.</a:t>
            </a:r>
          </a:p>
          <a:p>
            <a:pPr>
              <a:spcAft>
                <a:spcPts val="600"/>
              </a:spcAft>
              <a:defRPr sz="1500" b="0">
                <a:solidFill>
                  <a:srgbClr val="28303A"/>
                </a:solidFill>
                <a:latin typeface="Aptos"/>
              </a:defRPr>
            </a:pPr>
            <a:r>
              <a:t>• Validate results with more data before broad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88C82"/>
                </a:solidFill>
                <a:latin typeface="Aptos"/>
              </a:defRPr>
            </a:pPr>
            <a:r>
              <a:t>Portfolio takeaway: SQL can reveal where profit is created, where losses occur, and what management should investigate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Superstore SQL Portfolio • 137-record dataset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973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